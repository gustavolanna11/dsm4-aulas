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797DC-B291-41C9-0579-16FE86A5C5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CONCEITOS BÁSICOS DE ESTATÍSTICA</a:t>
            </a:r>
          </a:p>
        </p:txBody>
      </p:sp>
    </p:spTree>
    <p:extLst>
      <p:ext uri="{BB962C8B-B14F-4D97-AF65-F5344CB8AC3E}">
        <p14:creationId xmlns:p14="http://schemas.microsoft.com/office/powerpoint/2010/main" val="2298331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98640-AF7C-27BD-8637-9379C6465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000" u="sng" dirty="0"/>
              <a:t>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236CF14-5588-9F2A-A808-A954DC1A7427}"/>
              </a:ext>
            </a:extLst>
          </p:cNvPr>
          <p:cNvSpPr txBox="1"/>
          <p:nvPr/>
        </p:nvSpPr>
        <p:spPr>
          <a:xfrm>
            <a:off x="2611808" y="2264898"/>
            <a:ext cx="84031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CONSISTEM EM INFORMACÕES QUE VEM DE OBSERVAÇÕES, CONTAGENS, MEDIÇÕES OU RESPOSTAS.</a:t>
            </a:r>
          </a:p>
        </p:txBody>
      </p:sp>
    </p:spTree>
    <p:extLst>
      <p:ext uri="{BB962C8B-B14F-4D97-AF65-F5344CB8AC3E}">
        <p14:creationId xmlns:p14="http://schemas.microsoft.com/office/powerpoint/2010/main" val="872442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D9C95-5A9F-501A-C889-F85D4C94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FC97F-76A5-0870-E64F-53665488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000" u="sng" dirty="0"/>
              <a:t>ESTATÍSTICA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C4E24F4-9420-13FC-8EE8-6ABF535B878D}"/>
              </a:ext>
            </a:extLst>
          </p:cNvPr>
          <p:cNvSpPr txBox="1"/>
          <p:nvPr/>
        </p:nvSpPr>
        <p:spPr>
          <a:xfrm>
            <a:off x="2611808" y="2264898"/>
            <a:ext cx="84031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É A CIÊNCIA QUE COLETA, ORGANIZA, ANALISA E INTERPRETA DADOS PARA A TOMADA DE DECISÕES.</a:t>
            </a:r>
          </a:p>
        </p:txBody>
      </p:sp>
    </p:spTree>
    <p:extLst>
      <p:ext uri="{BB962C8B-B14F-4D97-AF65-F5344CB8AC3E}">
        <p14:creationId xmlns:p14="http://schemas.microsoft.com/office/powerpoint/2010/main" val="1470704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D2B6D-B8A6-219C-F3D3-5A9098410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E60BC-F672-3EF2-EC91-8F8BFF3F3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000" u="sng" dirty="0"/>
              <a:t>CONJUNTOS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54464F-7693-A998-49A5-2724768D6B59}"/>
              </a:ext>
            </a:extLst>
          </p:cNvPr>
          <p:cNvSpPr txBox="1"/>
          <p:nvPr/>
        </p:nvSpPr>
        <p:spPr>
          <a:xfrm>
            <a:off x="2611808" y="2264898"/>
            <a:ext cx="840319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HÁ DOIS TIPOS DE CONJUNTOS DE DADOS EM ESTATÍSTICA:</a:t>
            </a:r>
          </a:p>
          <a:p>
            <a:endParaRPr lang="pt-BR" sz="4000" dirty="0"/>
          </a:p>
          <a:p>
            <a:pPr marL="571500" indent="-571500">
              <a:buFontTx/>
              <a:buChar char="-"/>
            </a:pPr>
            <a:r>
              <a:rPr lang="pt-BR" sz="4000" dirty="0"/>
              <a:t>POPULAÇÃO</a:t>
            </a:r>
          </a:p>
          <a:p>
            <a:pPr marL="571500" indent="-571500">
              <a:buFontTx/>
              <a:buChar char="-"/>
            </a:pPr>
            <a:endParaRPr lang="pt-BR" sz="4000" dirty="0"/>
          </a:p>
          <a:p>
            <a:pPr marL="571500" indent="-571500">
              <a:buFontTx/>
              <a:buChar char="-"/>
            </a:pPr>
            <a:r>
              <a:rPr lang="pt-BR" sz="4000" dirty="0"/>
              <a:t>AMOSTRA</a:t>
            </a:r>
          </a:p>
        </p:txBody>
      </p:sp>
    </p:spTree>
    <p:extLst>
      <p:ext uri="{BB962C8B-B14F-4D97-AF65-F5344CB8AC3E}">
        <p14:creationId xmlns:p14="http://schemas.microsoft.com/office/powerpoint/2010/main" val="1608631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76E28-325C-FB87-019E-89082C4FC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52D76-4A0D-92B9-F625-C2FF4294F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000" u="sng" dirty="0"/>
              <a:t>POPULAÇÃO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A4DDF7F-5B2A-8FB2-4543-EBAF850DAFB1}"/>
              </a:ext>
            </a:extLst>
          </p:cNvPr>
          <p:cNvSpPr txBox="1"/>
          <p:nvPr/>
        </p:nvSpPr>
        <p:spPr>
          <a:xfrm>
            <a:off x="2611808" y="2264898"/>
            <a:ext cx="84031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E UMA COLEÇÃO DE TODOS OS RESULTADOS, RESPOSTAS, MEDIÇÕES OU CONTAGENS QUE SÃO DE INTERESSE.</a:t>
            </a:r>
          </a:p>
        </p:txBody>
      </p:sp>
    </p:spTree>
    <p:extLst>
      <p:ext uri="{BB962C8B-B14F-4D97-AF65-F5344CB8AC3E}">
        <p14:creationId xmlns:p14="http://schemas.microsoft.com/office/powerpoint/2010/main" val="561943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7AC2C-5E77-E292-1E1E-7D35E7CE7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C75D6-1A97-B3E3-DF7B-953EC88AA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000" u="sng" dirty="0"/>
              <a:t>AMOSTRA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1AC0BAE-A07D-5D88-FC76-DF7EDEA72603}"/>
              </a:ext>
            </a:extLst>
          </p:cNvPr>
          <p:cNvSpPr txBox="1"/>
          <p:nvPr/>
        </p:nvSpPr>
        <p:spPr>
          <a:xfrm>
            <a:off x="2611808" y="2264898"/>
            <a:ext cx="84031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É UM SUBCONJUNTO DE UMA POPULAÇÃO.</a:t>
            </a:r>
          </a:p>
        </p:txBody>
      </p:sp>
    </p:spTree>
    <p:extLst>
      <p:ext uri="{BB962C8B-B14F-4D97-AF65-F5344CB8AC3E}">
        <p14:creationId xmlns:p14="http://schemas.microsoft.com/office/powerpoint/2010/main" val="899551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01B71-5453-2651-7626-283EFC725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B9831-D77A-D687-16E0-0E08C02E2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000" u="sng" dirty="0"/>
              <a:t>AMOSTRA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1ED75C-2558-F73A-57FD-58117B077ADE}"/>
              </a:ext>
            </a:extLst>
          </p:cNvPr>
          <p:cNvSpPr txBox="1"/>
          <p:nvPr/>
        </p:nvSpPr>
        <p:spPr>
          <a:xfrm>
            <a:off x="2611808" y="2264898"/>
            <a:ext cx="840319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DADOS AMOSTRAIS PODEM TRAZER CONCLUSÕES SOBRE POPULAÇÕES, DESDE QUE SEJA COLETADOS POR UM MÉTODO APROPRIADO.</a:t>
            </a:r>
          </a:p>
        </p:txBody>
      </p:sp>
    </p:spTree>
    <p:extLst>
      <p:ext uri="{BB962C8B-B14F-4D97-AF65-F5344CB8AC3E}">
        <p14:creationId xmlns:p14="http://schemas.microsoft.com/office/powerpoint/2010/main" val="4252087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8F0B3-86DD-AF83-9641-8185BFB53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2C3CD-1B84-82EC-1F12-10BDEC1C2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512634"/>
            <a:ext cx="7958331" cy="1077229"/>
          </a:xfrm>
        </p:spPr>
        <p:txBody>
          <a:bodyPr/>
          <a:lstStyle/>
          <a:p>
            <a:pPr algn="l"/>
            <a:r>
              <a:rPr lang="pt-BR" dirty="0"/>
              <a:t>EXEMPLO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3675D9-EE66-67D1-EB03-F4E5B8C71702}"/>
              </a:ext>
            </a:extLst>
          </p:cNvPr>
          <p:cNvSpPr txBox="1"/>
          <p:nvPr/>
        </p:nvSpPr>
        <p:spPr>
          <a:xfrm>
            <a:off x="1176997" y="1505243"/>
            <a:ext cx="491900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EM UMA PESQUISA, FOI PERGUNTADO A 1.708 ADULTOS SE ELES CONSIDERAM O AQUECIMENTO GLOBAL UM PROBLEMA QUE EXIGE UMA AÇÃO IMEDIATA DO GOVERNO.</a:t>
            </a:r>
          </a:p>
          <a:p>
            <a:r>
              <a:rPr lang="pt-BR" sz="3200" dirty="0"/>
              <a:t>RESULTADO: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98C8A55-880B-8405-0190-9D66A5F4E9FC}"/>
              </a:ext>
            </a:extLst>
          </p:cNvPr>
          <p:cNvSpPr/>
          <p:nvPr/>
        </p:nvSpPr>
        <p:spPr>
          <a:xfrm>
            <a:off x="7160455" y="2067951"/>
            <a:ext cx="3953022" cy="398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69ECF3A-1B72-1E42-4DB1-D43F53ACC26D}"/>
              </a:ext>
            </a:extLst>
          </p:cNvPr>
          <p:cNvSpPr txBox="1"/>
          <p:nvPr/>
        </p:nvSpPr>
        <p:spPr>
          <a:xfrm>
            <a:off x="7399605" y="928461"/>
            <a:ext cx="36153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RESPOSTAS DE TODOS OS ADULTOS (</a:t>
            </a:r>
            <a:r>
              <a:rPr lang="pt-BR" sz="2400" b="1" u="sng" dirty="0"/>
              <a:t>POPULAÇÃO</a:t>
            </a:r>
            <a:r>
              <a:rPr lang="pt-BR" sz="2400" b="1" dirty="0"/>
              <a:t>)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0165746-D197-C1AE-8A5E-ABBC4253B71B}"/>
              </a:ext>
            </a:extLst>
          </p:cNvPr>
          <p:cNvSpPr/>
          <p:nvPr/>
        </p:nvSpPr>
        <p:spPr>
          <a:xfrm>
            <a:off x="7399605" y="2869808"/>
            <a:ext cx="3446586" cy="2623627"/>
          </a:xfrm>
          <a:prstGeom prst="ellipse">
            <a:avLst/>
          </a:prstGeom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B6F438-3518-D8E8-E6E5-DD5311A8F7B3}"/>
              </a:ext>
            </a:extLst>
          </p:cNvPr>
          <p:cNvSpPr txBox="1"/>
          <p:nvPr/>
        </p:nvSpPr>
        <p:spPr>
          <a:xfrm>
            <a:off x="7877908" y="3274252"/>
            <a:ext cx="25603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RESPOSTAS DE TODOS OS ADULTOS PESQUISADOS</a:t>
            </a:r>
          </a:p>
          <a:p>
            <a:pPr algn="ctr"/>
            <a:r>
              <a:rPr lang="pt-BR" sz="2400" b="1" dirty="0"/>
              <a:t>(</a:t>
            </a:r>
            <a:r>
              <a:rPr lang="pt-BR" sz="2400" b="1" u="sng" dirty="0"/>
              <a:t>AMOSTRA</a:t>
            </a:r>
            <a:r>
              <a:rPr lang="pt-BR" sz="24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3562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B8846-7AE5-8DF3-FC31-A80C17CA6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A978C-AAC9-414F-18AE-1F4A14A1D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6" y="808056"/>
            <a:ext cx="9154084" cy="1077229"/>
          </a:xfrm>
        </p:spPr>
        <p:txBody>
          <a:bodyPr>
            <a:noAutofit/>
          </a:bodyPr>
          <a:lstStyle/>
          <a:p>
            <a:r>
              <a:rPr lang="pt-BR" sz="5000" u="sng" dirty="0"/>
              <a:t>PARÂMETRO E ESTATÍSTICA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2F2E93B-1A3E-8538-C0AD-E313162378B9}"/>
              </a:ext>
            </a:extLst>
          </p:cNvPr>
          <p:cNvSpPr txBox="1"/>
          <p:nvPr/>
        </p:nvSpPr>
        <p:spPr>
          <a:xfrm>
            <a:off x="1416055" y="1786594"/>
            <a:ext cx="935202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pt-BR" sz="4000" dirty="0"/>
              <a:t>PARÂMETRO – DESCRIÇÃO NUMÉRICA DE UMA CARACTERÍSTICA POPULACIONAL.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pt-BR" sz="4000" dirty="0"/>
              <a:t>ESTATÍSTICA – DESCRIÇÃO NUMÉRICA DE UMA CARACTERÍSTICA AMOSTRAL.</a:t>
            </a:r>
          </a:p>
        </p:txBody>
      </p:sp>
    </p:spTree>
    <p:extLst>
      <p:ext uri="{BB962C8B-B14F-4D97-AF65-F5344CB8AC3E}">
        <p14:creationId xmlns:p14="http://schemas.microsoft.com/office/powerpoint/2010/main" val="2814855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BA5A1-F307-6045-C56A-BFCF45A79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30439-F7F7-18E0-E6B9-697C8AF1F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195E5D5-3361-85F2-C05F-468E51B24CE1}"/>
              </a:ext>
            </a:extLst>
          </p:cNvPr>
          <p:cNvSpPr txBox="1"/>
          <p:nvPr/>
        </p:nvSpPr>
        <p:spPr>
          <a:xfrm>
            <a:off x="1416055" y="1786594"/>
            <a:ext cx="840319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1 – UMA PESQUISA RECENTE DE UMA AMOSTRA DE MBAs REPORTOU QUE O SALÁRIO MÉDIO PARA UM MBA E MAIS DE R$ 8.200,00.</a:t>
            </a:r>
          </a:p>
          <a:p>
            <a:endParaRPr lang="pt-BR" sz="4000" dirty="0"/>
          </a:p>
          <a:p>
            <a:r>
              <a:rPr lang="pt-BR" sz="4000" dirty="0"/>
              <a:t>E UMA ESTATÍSTICA AMOSTRAL</a:t>
            </a:r>
          </a:p>
        </p:txBody>
      </p:sp>
    </p:spTree>
    <p:extLst>
      <p:ext uri="{BB962C8B-B14F-4D97-AF65-F5344CB8AC3E}">
        <p14:creationId xmlns:p14="http://schemas.microsoft.com/office/powerpoint/2010/main" val="3533470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96C38-B4BA-DD87-ECEF-7E4CE1CCE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CD1E0F-E719-FAE2-F789-95520703D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032C795-E1A3-412D-59E2-1113F99F559B}"/>
              </a:ext>
            </a:extLst>
          </p:cNvPr>
          <p:cNvSpPr txBox="1"/>
          <p:nvPr/>
        </p:nvSpPr>
        <p:spPr>
          <a:xfrm>
            <a:off x="1416055" y="1786594"/>
            <a:ext cx="979589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2 – OS SALÁRIOS INICIAIS PARA OS MBAs GRADUADOS EM UMA DETERMINADA UNIVERSIDADE AUMENTARAM 8,5% EM COMPARAÇÃO AO ANO ANTERIOR.</a:t>
            </a:r>
          </a:p>
          <a:p>
            <a:endParaRPr lang="pt-BR" sz="4000" dirty="0"/>
          </a:p>
          <a:p>
            <a:r>
              <a:rPr lang="pt-BR" sz="4000" dirty="0"/>
              <a:t>E UM PARÂMETRO POPULACIONAL</a:t>
            </a:r>
          </a:p>
        </p:txBody>
      </p:sp>
    </p:spTree>
    <p:extLst>
      <p:ext uri="{BB962C8B-B14F-4D97-AF65-F5344CB8AC3E}">
        <p14:creationId xmlns:p14="http://schemas.microsoft.com/office/powerpoint/2010/main" val="1199707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32E1E-5907-9CBF-31D7-1A3E52003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F2885-314E-9470-4F50-FD4645EC8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000" u="sng" dirty="0"/>
              <a:t>RAMOS DA ESTATÍSTICA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D92EAE-F3BA-C8A8-31B5-AAC41F226DBE}"/>
              </a:ext>
            </a:extLst>
          </p:cNvPr>
          <p:cNvSpPr txBox="1"/>
          <p:nvPr/>
        </p:nvSpPr>
        <p:spPr>
          <a:xfrm>
            <a:off x="1416055" y="1786594"/>
            <a:ext cx="964115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pt-BR" sz="3200" dirty="0"/>
              <a:t>ESTATÍSTICA DESCRITIVA – ENVOLVE A ORGANIZAÇÃO, O RESUMO E A REPRESENTAÇÃO DOS DADOS.</a:t>
            </a:r>
          </a:p>
          <a:p>
            <a:endParaRPr lang="pt-BR" sz="32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pt-BR" sz="3200" dirty="0"/>
              <a:t>ESTATÍSTICA INFERENCIAL – ENVOLVE O USO DE UMA AMOSTRA PARA CHEGAR A CONCLUSÕES SOBRE UMA POPULAÇÃO, TEM COMO FERRAMENTA  A PROBABILIDADE.</a:t>
            </a:r>
          </a:p>
        </p:txBody>
      </p:sp>
    </p:spTree>
    <p:extLst>
      <p:ext uri="{BB962C8B-B14F-4D97-AF65-F5344CB8AC3E}">
        <p14:creationId xmlns:p14="http://schemas.microsoft.com/office/powerpoint/2010/main" val="3907990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CF3EA-B83C-94BD-0DD1-13A6FBFD8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CF274-1DFF-8867-6813-57AFB42729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2449" y="3428998"/>
            <a:ext cx="6287426" cy="2268559"/>
          </a:xfrm>
        </p:spPr>
        <p:txBody>
          <a:bodyPr>
            <a:normAutofit/>
          </a:bodyPr>
          <a:lstStyle/>
          <a:p>
            <a:r>
              <a:rPr lang="pt-BR" dirty="0"/>
              <a:t>CLASSIFICAÇÃO DOS DADOS</a:t>
            </a:r>
          </a:p>
        </p:txBody>
      </p:sp>
    </p:spTree>
    <p:extLst>
      <p:ext uri="{BB962C8B-B14F-4D97-AF65-F5344CB8AC3E}">
        <p14:creationId xmlns:p14="http://schemas.microsoft.com/office/powerpoint/2010/main" val="1983565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328B5-56B9-47CC-A991-BD3F88DCD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B3631-7AFC-1AAA-C69F-407484D96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000" u="sng" dirty="0"/>
              <a:t>TIPOS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6D1DF66-D3AC-A274-C6CF-E19C28FCB443}"/>
              </a:ext>
            </a:extLst>
          </p:cNvPr>
          <p:cNvSpPr txBox="1"/>
          <p:nvPr/>
        </p:nvSpPr>
        <p:spPr>
          <a:xfrm>
            <a:off x="1416055" y="1786594"/>
            <a:ext cx="964115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pt-BR" sz="3200" dirty="0"/>
              <a:t>DADOS QUALITATIVOS – CONSISTEM DE ATRIBUTOS, RÓTULOS OU ENTRADAS NÃO NUMÉRICAS.</a:t>
            </a:r>
          </a:p>
          <a:p>
            <a:endParaRPr lang="pt-BR" sz="32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pt-BR" sz="3200" dirty="0"/>
              <a:t>DADOS QUANTITATIVOS – CONSISTEM DE MEDIDAS NUMÉRICAS OU CONTAGENS.</a:t>
            </a:r>
          </a:p>
        </p:txBody>
      </p:sp>
    </p:spTree>
    <p:extLst>
      <p:ext uri="{BB962C8B-B14F-4D97-AF65-F5344CB8AC3E}">
        <p14:creationId xmlns:p14="http://schemas.microsoft.com/office/powerpoint/2010/main" val="3701104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6C281-4547-45F0-0AC3-A4D8674FE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EAB50-2F63-B445-C0E5-0520B5FAE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846" y="808056"/>
            <a:ext cx="9014294" cy="1077229"/>
          </a:xfrm>
        </p:spPr>
        <p:txBody>
          <a:bodyPr>
            <a:noAutofit/>
          </a:bodyPr>
          <a:lstStyle/>
          <a:p>
            <a:r>
              <a:rPr lang="pt-BR" sz="5000" u="sng" dirty="0"/>
              <a:t>NÍVEIS DE MENSURAÇÃO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2533C5D-F49F-C48F-EE25-F77033A13EBE}"/>
              </a:ext>
            </a:extLst>
          </p:cNvPr>
          <p:cNvSpPr txBox="1"/>
          <p:nvPr/>
        </p:nvSpPr>
        <p:spPr>
          <a:xfrm>
            <a:off x="1416055" y="1547442"/>
            <a:ext cx="964115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pt-BR" sz="3000" dirty="0"/>
              <a:t>NOMINAL – SÃO APENAS QUALITATIVOS. PODEM SER CATEGORIZADOS USANDO-SE NOMES, RÓTULOS OU QUALIDADES. NESTE NÍVEL NÃO SE REALIZA CÁLCULOS MATEMÁTICOS.</a:t>
            </a:r>
          </a:p>
          <a:p>
            <a:endParaRPr lang="pt-BR" sz="3000" dirty="0"/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pt-BR" sz="3000" dirty="0"/>
          </a:p>
          <a:p>
            <a:r>
              <a:rPr lang="pt-BR" sz="3000" dirty="0"/>
              <a:t>EXEMPLO: EMISSORAS DE TELEVISÃO DO BRASIL</a:t>
            </a:r>
          </a:p>
        </p:txBody>
      </p:sp>
    </p:spTree>
    <p:extLst>
      <p:ext uri="{BB962C8B-B14F-4D97-AF65-F5344CB8AC3E}">
        <p14:creationId xmlns:p14="http://schemas.microsoft.com/office/powerpoint/2010/main" val="1832890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7702A-80E9-DEA2-6748-9910C7CF0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73A902-D094-9A3A-4AA6-9EE8C263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562" y="808056"/>
            <a:ext cx="8809578" cy="1077229"/>
          </a:xfrm>
        </p:spPr>
        <p:txBody>
          <a:bodyPr>
            <a:noAutofit/>
          </a:bodyPr>
          <a:lstStyle/>
          <a:p>
            <a:r>
              <a:rPr lang="pt-BR" sz="5000" u="sng" dirty="0"/>
              <a:t>NÍVEIS DE MENSURAÇÃO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2AC565F-5B25-1C6C-4E80-224E24DA4A5D}"/>
              </a:ext>
            </a:extLst>
          </p:cNvPr>
          <p:cNvSpPr txBox="1"/>
          <p:nvPr/>
        </p:nvSpPr>
        <p:spPr>
          <a:xfrm>
            <a:off x="1416055" y="1547442"/>
            <a:ext cx="964115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endParaRPr lang="pt-BR" sz="30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pt-BR" sz="3000" dirty="0"/>
              <a:t>ORDINAL – SÃO QUALITATIVOS OU QUANTITATIVOS. PODEM SER ORGANIZADOS EM ORDEM OU POSIÇÃO, MAS AS DIFERENÇAS ENTRE AS ENTRADAS DE DADOS NÃO SÃO SIGNIFICANTES.</a:t>
            </a:r>
          </a:p>
          <a:p>
            <a:endParaRPr lang="pt-BR" sz="3000" dirty="0"/>
          </a:p>
          <a:p>
            <a:r>
              <a:rPr lang="pt-BR" sz="3000" dirty="0"/>
              <a:t>EXEMPLO: OS CINCO MELHORES PROGRAMAS DE TV MAIS ASSISTIDOS EM 2024</a:t>
            </a:r>
          </a:p>
        </p:txBody>
      </p:sp>
    </p:spTree>
    <p:extLst>
      <p:ext uri="{BB962C8B-B14F-4D97-AF65-F5344CB8AC3E}">
        <p14:creationId xmlns:p14="http://schemas.microsoft.com/office/powerpoint/2010/main" val="530204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3FB66-69D5-4E7C-3E45-743021C28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ECEAC7-0EDD-5B95-44AA-3C635BF88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6" y="808056"/>
            <a:ext cx="9154084" cy="1077229"/>
          </a:xfrm>
        </p:spPr>
        <p:txBody>
          <a:bodyPr>
            <a:noAutofit/>
          </a:bodyPr>
          <a:lstStyle/>
          <a:p>
            <a:r>
              <a:rPr lang="pt-BR" sz="5000" u="sng" dirty="0"/>
              <a:t>NÍVEIS DE MENSURAÇÃO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74AC41E-1D26-956A-22B2-E283F01EA6F7}"/>
              </a:ext>
            </a:extLst>
          </p:cNvPr>
          <p:cNvSpPr txBox="1"/>
          <p:nvPr/>
        </p:nvSpPr>
        <p:spPr>
          <a:xfrm>
            <a:off x="1416055" y="1547442"/>
            <a:ext cx="964115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pt-BR" sz="3000" dirty="0"/>
              <a:t>INTERVALAR – PODEM SER ORDENADOS E VOCÊ PODE CALCULAR DIFERENÇAS SIGNIFICATIVAS ENTRE AS ENTRADAS DE DADOS. NESTE NÍVEL, UM REGISTRO NULO SIMPLESMENTE REPRESENTA UMA POSIÇÃO EM UMA ESCALA</a:t>
            </a:r>
            <a:r>
              <a:rPr lang="pt-BR" sz="3000"/>
              <a:t>, NÃO </a:t>
            </a:r>
            <a:r>
              <a:rPr lang="pt-BR" sz="3000" dirty="0"/>
              <a:t>É</a:t>
            </a:r>
            <a:r>
              <a:rPr lang="pt-BR" sz="3000"/>
              <a:t> </a:t>
            </a:r>
            <a:r>
              <a:rPr lang="pt-BR" sz="3000" dirty="0"/>
              <a:t>UM ZERO INERENTE.</a:t>
            </a:r>
          </a:p>
          <a:p>
            <a:endParaRPr lang="pt-BR" sz="3000" dirty="0"/>
          </a:p>
          <a:p>
            <a:r>
              <a:rPr lang="pt-BR" sz="3000" dirty="0"/>
              <a:t>EXEMPLO: A TEMPERATURA CORPORAL DE UM ATLETA DURANTE UMA SESSÃO DE EXERCÍCIOS.</a:t>
            </a:r>
          </a:p>
        </p:txBody>
      </p:sp>
    </p:spTree>
    <p:extLst>
      <p:ext uri="{BB962C8B-B14F-4D97-AF65-F5344CB8AC3E}">
        <p14:creationId xmlns:p14="http://schemas.microsoft.com/office/powerpoint/2010/main" val="3515613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01E2D-F5F1-AE2D-F84A-6831ECC8F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E8D9A-107F-09EE-46EA-199B7A7F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618" y="808056"/>
            <a:ext cx="8850521" cy="1077229"/>
          </a:xfrm>
        </p:spPr>
        <p:txBody>
          <a:bodyPr>
            <a:noAutofit/>
          </a:bodyPr>
          <a:lstStyle/>
          <a:p>
            <a:r>
              <a:rPr lang="pt-BR" sz="5000" u="sng" dirty="0"/>
              <a:t>NÍVEIS DE MENSURAÇÃO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F7897D-F9F0-D8BE-7772-211FF29398A1}"/>
              </a:ext>
            </a:extLst>
          </p:cNvPr>
          <p:cNvSpPr txBox="1"/>
          <p:nvPr/>
        </p:nvSpPr>
        <p:spPr>
          <a:xfrm>
            <a:off x="1416055" y="1547442"/>
            <a:ext cx="964115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pt-BR" sz="3000" dirty="0"/>
              <a:t>RACIONAL – SÃO SIMILARES AOS DADOS NO NÍVEL INTERVALAR, COM UMA PROPRIEDADE ADICIONADA: NESTE NÍVEL, UM REGISTRO NULO E UM ZERO INERENTE. UMA RAZÃO DE DOIS VALORES DE DADOS PODE SER FORMADA DE MODO QUE UM VALOR DE DADO POSSA SER SIGNIFICATIVAMENTE EXPRESSO COMO O MÚLTIPLO DE OUTRO.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pt-BR" sz="3000" dirty="0"/>
          </a:p>
          <a:p>
            <a:r>
              <a:rPr lang="pt-BR" sz="3000" dirty="0"/>
              <a:t>EXEMPLO: ÍNDICES CARDÍACOS DE UM ATLETA DURANTE UMA SESSÃO DE EXERCÍCIOS.</a:t>
            </a:r>
          </a:p>
        </p:txBody>
      </p:sp>
    </p:spTree>
    <p:extLst>
      <p:ext uri="{BB962C8B-B14F-4D97-AF65-F5344CB8AC3E}">
        <p14:creationId xmlns:p14="http://schemas.microsoft.com/office/powerpoint/2010/main" val="2746164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5BB54-5A64-66C6-6746-AEB6C34C2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98784-FF83-67E5-02E2-86E103BB6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000" u="sng" dirty="0"/>
              <a:t>ZERO INERENTE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CA7F3EE-8F1A-BD90-2D1C-924180AD0B45}"/>
              </a:ext>
            </a:extLst>
          </p:cNvPr>
          <p:cNvSpPr txBox="1"/>
          <p:nvPr/>
        </p:nvSpPr>
        <p:spPr>
          <a:xfrm>
            <a:off x="1416055" y="1547442"/>
            <a:ext cx="964115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/>
              <a:t>UM ZERO INERENTE E UM ZERO QUE SIGNIFICA “NADA”.</a:t>
            </a:r>
          </a:p>
          <a:p>
            <a:endParaRPr lang="pt-BR" sz="3000" dirty="0"/>
          </a:p>
          <a:p>
            <a:r>
              <a:rPr lang="pt-BR" sz="3000" dirty="0"/>
              <a:t>EXEMPLO: QUANTIA DE DINHEIRO EM UMA APLICAÇÃO = ZERO</a:t>
            </a:r>
          </a:p>
          <a:p>
            <a:endParaRPr lang="pt-BR" sz="3000" dirty="0"/>
          </a:p>
          <a:p>
            <a:r>
              <a:rPr lang="pt-BR" sz="3000" dirty="0"/>
              <a:t>ZERO NÃO INERENTE: TEMPERATURA DE 0°C NÃO REPRESENTA UMA CONDIÇÃO NA QUAL O AQUECIMENTO NÃO ESTÁ PRESENTE. REPRESENTA UMA POSIÇÃO NA ESCALA CELSIUS, NÃO E UM ZERO INERENTE.</a:t>
            </a:r>
          </a:p>
        </p:txBody>
      </p:sp>
    </p:spTree>
    <p:extLst>
      <p:ext uri="{BB962C8B-B14F-4D97-AF65-F5344CB8AC3E}">
        <p14:creationId xmlns:p14="http://schemas.microsoft.com/office/powerpoint/2010/main" val="4129615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77379-1BE5-9FEA-184E-E7AC125C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26C87276-1378-9EE4-988E-6520E4EA3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RESUMO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83D37E4-E20A-104C-439E-A9272783D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455815"/>
              </p:ext>
            </p:extLst>
          </p:nvPr>
        </p:nvGraphicFramePr>
        <p:xfrm>
          <a:off x="1828801" y="1885285"/>
          <a:ext cx="8964246" cy="322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3883">
                  <a:extLst>
                    <a:ext uri="{9D8B030D-6E8A-4147-A177-3AD203B41FA5}">
                      <a16:colId xmlns:a16="http://schemas.microsoft.com/office/drawing/2014/main" val="2713495895"/>
                    </a:ext>
                  </a:extLst>
                </a:gridCol>
                <a:gridCol w="1849376">
                  <a:extLst>
                    <a:ext uri="{9D8B030D-6E8A-4147-A177-3AD203B41FA5}">
                      <a16:colId xmlns:a16="http://schemas.microsoft.com/office/drawing/2014/main" val="2910386268"/>
                    </a:ext>
                  </a:extLst>
                </a:gridCol>
                <a:gridCol w="1446662">
                  <a:extLst>
                    <a:ext uri="{9D8B030D-6E8A-4147-A177-3AD203B41FA5}">
                      <a16:colId xmlns:a16="http://schemas.microsoft.com/office/drawing/2014/main" val="1477059053"/>
                    </a:ext>
                  </a:extLst>
                </a:gridCol>
                <a:gridCol w="1897039">
                  <a:extLst>
                    <a:ext uri="{9D8B030D-6E8A-4147-A177-3AD203B41FA5}">
                      <a16:colId xmlns:a16="http://schemas.microsoft.com/office/drawing/2014/main" val="2329244317"/>
                    </a:ext>
                  </a:extLst>
                </a:gridCol>
                <a:gridCol w="1717286">
                  <a:extLst>
                    <a:ext uri="{9D8B030D-6E8A-4147-A177-3AD203B41FA5}">
                      <a16:colId xmlns:a16="http://schemas.microsoft.com/office/drawing/2014/main" val="5645407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NÍVEL DE MENSURAÇÃO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CATEGORIZAR OS 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ORDENAR OS 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SUBTRAIR OS VALORES DOS 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DETERMINAR SE UM VALOR DE DADO E MÚLTIPLO DE OUTRO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773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088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ORDINAL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197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INTERVALAR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52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914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76111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D061EE657DF1E4D8E26756DB0106BE0" ma:contentTypeVersion="0" ma:contentTypeDescription="Crie um novo documento." ma:contentTypeScope="" ma:versionID="b813337833f6287bc4f5dcbc99c050e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257547f92819c86ae4143fe76bb6c5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3A167A2-D652-4E59-B19B-67FE08D61CC7}"/>
</file>

<file path=customXml/itemProps2.xml><?xml version="1.0" encoding="utf-8"?>
<ds:datastoreItem xmlns:ds="http://schemas.openxmlformats.org/officeDocument/2006/customXml" ds:itemID="{CAB6F9C3-0E46-4F74-A58D-D4869931E095}"/>
</file>

<file path=customXml/itemProps3.xml><?xml version="1.0" encoding="utf-8"?>
<ds:datastoreItem xmlns:ds="http://schemas.openxmlformats.org/officeDocument/2006/customXml" ds:itemID="{6FC49810-CDA4-4785-8946-59ED6D2B11CB}"/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130</TotalTime>
  <Words>592</Words>
  <Application>Microsoft Office PowerPoint</Application>
  <PresentationFormat>Widescreen</PresentationFormat>
  <Paragraphs>93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MS Shell Dlg 2</vt:lpstr>
      <vt:lpstr>Wingdings</vt:lpstr>
      <vt:lpstr>Wingdings 3</vt:lpstr>
      <vt:lpstr>Madison</vt:lpstr>
      <vt:lpstr>CONCEITOS BÁSICOS DE ESTATÍSTICA</vt:lpstr>
      <vt:lpstr>DADOS</vt:lpstr>
      <vt:lpstr>ESTATÍSTICA</vt:lpstr>
      <vt:lpstr>CONJUNTOS DE DADOS</vt:lpstr>
      <vt:lpstr>POPULAÇÃO</vt:lpstr>
      <vt:lpstr>AMOSTRA</vt:lpstr>
      <vt:lpstr>AMOSTRA</vt:lpstr>
      <vt:lpstr>EXEMPLO</vt:lpstr>
      <vt:lpstr>PARÂMETRO E ESTATÍSTICA</vt:lpstr>
      <vt:lpstr>EXEMPLOS</vt:lpstr>
      <vt:lpstr>EXEMPLOS</vt:lpstr>
      <vt:lpstr>RAMOS DA ESTATÍSTICA</vt:lpstr>
      <vt:lpstr>CLASSIFICAÇÃO DOS DADOS</vt:lpstr>
      <vt:lpstr>TIPOS DE DADOS</vt:lpstr>
      <vt:lpstr>NÍVEIS DE MENSURAÇÃO</vt:lpstr>
      <vt:lpstr>NÍVEIS DE MENSURAÇÃO</vt:lpstr>
      <vt:lpstr>NÍVEIS DE MENSURAÇÃO</vt:lpstr>
      <vt:lpstr>NÍVEIS DE MENSURAÇÃO</vt:lpstr>
      <vt:lpstr>ZERO INERENTE</vt:lpstr>
      <vt:lpstr>RESUMO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CONCEITOS BÁSICOS DE ESTATÍSTICA</dc:title>
  <dc:creator>adm</dc:creator>
  <cp:lastModifiedBy>adm</cp:lastModifiedBy>
  <cp:revision>25</cp:revision>
  <dcterms:created xsi:type="dcterms:W3CDTF">2025-02-10T22:32:02Z</dcterms:created>
  <dcterms:modified xsi:type="dcterms:W3CDTF">2025-02-18T01:47:35Z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0x0101008D061EE657DF1E4D8E26756DB0106BE0</vt:lpwstr>
  </property>
</Properties>
</file>